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gYkfCjH/x3Nlp1j0E21vbMScxa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2" Type="http://customschemas.google.com/relationships/presentationmetadata" Target="metadata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" name="Google Shape;16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6D2E46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7D3C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10241280" y="4206240"/>
            <a:ext cx="3657600" cy="3657600"/>
          </a:xfrm>
          <a:prstGeom prst="ellipse">
            <a:avLst/>
          </a:prstGeom>
          <a:solidFill>
            <a:srgbClr val="5E2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HAIRCUT HOME STUDIO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822960" y="3246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E2D0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ECE2D0"/>
                </a:solidFill>
                <a:latin typeface="Calibri"/>
                <a:ea typeface="Calibri"/>
                <a:cs typeface="Calibri"/>
                <a:sym typeface="Calibri"/>
              </a:rPr>
              <a:t>Plataforma web de agendamiento inteligente para peluquería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22960" y="3977640"/>
            <a:ext cx="502920" cy="54864"/>
          </a:xfrm>
          <a:prstGeom prst="rect">
            <a:avLst/>
          </a:prstGeom>
          <a:solidFill>
            <a:srgbClr val="D9A44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 txBox="1"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D9A441"/>
                </a:solidFill>
                <a:latin typeface="Calibri"/>
                <a:ea typeface="Calibri"/>
                <a:cs typeface="Calibri"/>
                <a:sym typeface="Calibri"/>
              </a:rPr>
              <a:t>PROYECTO APT · FASE 1 — CAPSTONE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/>
        </p:nvSpPr>
        <p:spPr>
          <a:xfrm>
            <a:off x="822960" y="6108192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C6C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D8C6CC"/>
                </a:solidFill>
                <a:latin typeface="Calibri"/>
                <a:ea typeface="Calibri"/>
                <a:cs typeface="Calibri"/>
                <a:sym typeface="Calibri"/>
              </a:rPr>
              <a:t>Nicolas Carmona · Rosa Garrido · Mateo Alvares  |  Duoc UC Melipilla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8138150" y="5715050"/>
            <a:ext cx="4053900" cy="1223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4" name="Google Shape;2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74538" y="5811901"/>
            <a:ext cx="3807967" cy="102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2676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26769"/>
                </a:solidFill>
                <a:latin typeface="Calibri"/>
                <a:ea typeface="Calibri"/>
                <a:cs typeface="Calibri"/>
                <a:sym typeface="Calibri"/>
              </a:rPr>
              <a:t>SECCIÓN 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 txBox="1"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Definición del Proyecto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48640" y="1783080"/>
            <a:ext cx="5120640" cy="4160520"/>
          </a:xfrm>
          <a:prstGeom prst="roundRect">
            <a:avLst>
              <a:gd fmla="val 2637" name="adj"/>
            </a:avLst>
          </a:prstGeom>
          <a:solidFill>
            <a:srgbClr val="ECE2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86868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Haircut Home Studio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868680" y="2606040"/>
            <a:ext cx="45262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Proyecto de título orientado a resolver el agendamiento de una peluquería de atención a domicilio, mediante una plataforma web que centraliza, automatiza y ordena el proceso de reservas del negocio.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5989320" y="1801368"/>
            <a:ext cx="566928" cy="566928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5989320" y="1801368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6720840" y="178308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Análisis y levantamiento de requerimientos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6720840" y="208483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Product Backlog y reglas de negocio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5989320" y="2834640"/>
            <a:ext cx="566928" cy="566928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5989320" y="28346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6720840" y="2816352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Diseño y desarrollo de software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6720840" y="31181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Mockups → lógica de reservas, login y flujos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5989320" y="3867912"/>
            <a:ext cx="566928" cy="566928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 txBox="1"/>
          <p:nvPr/>
        </p:nvSpPr>
        <p:spPr>
          <a:xfrm>
            <a:off x="5989320" y="3867912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 txBox="1"/>
          <p:nvPr/>
        </p:nvSpPr>
        <p:spPr>
          <a:xfrm>
            <a:off x="6720840" y="3849624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Modelamiento de base de datos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 txBox="1"/>
          <p:nvPr/>
        </p:nvSpPr>
        <p:spPr>
          <a:xfrm>
            <a:off x="6720840" y="415137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Usuarios, reservas, servicios y disponibilidad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5989320" y="4901184"/>
            <a:ext cx="566928" cy="566928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 txBox="1"/>
          <p:nvPr/>
        </p:nvSpPr>
        <p:spPr>
          <a:xfrm>
            <a:off x="5989320" y="4901184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 txBox="1"/>
          <p:nvPr/>
        </p:nvSpPr>
        <p:spPr>
          <a:xfrm>
            <a:off x="6720840" y="4882896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Gestión ágil con Scrum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 txBox="1"/>
          <p:nvPr/>
        </p:nvSpPr>
        <p:spPr>
          <a:xfrm>
            <a:off x="6720840" y="5184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Sprints, backlog priorizado y seguimiento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Haircut Home Studio — Proyecto APT · Fase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8138150" y="5715050"/>
            <a:ext cx="4053900" cy="1223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3" name="Google Shape;5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74538" y="5811901"/>
            <a:ext cx="3807967" cy="102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2676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26769"/>
                </a:solidFill>
                <a:latin typeface="Calibri"/>
                <a:ea typeface="Calibri"/>
                <a:cs typeface="Calibri"/>
                <a:sym typeface="Calibri"/>
              </a:rPr>
              <a:t>SECCIÓN 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 txBox="1"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Problemática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 txBox="1"/>
          <p:nvPr/>
        </p:nvSpPr>
        <p:spPr>
          <a:xfrm>
            <a:off x="548640" y="1691640"/>
            <a:ext cx="10881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550"/>
              <a:buFont typeface="Calibri"/>
              <a:buNone/>
            </a:pPr>
            <a:r>
              <a:rPr b="0" i="1" lang="en-US" sz="155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El dueño de la peluquería agenda sus horas manualmente por WhatsApp y llamadas telefónicas, un proceso que genera fricción tanto para él como para sus clientes.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548640" y="2606040"/>
            <a:ext cx="2606040" cy="3291840"/>
          </a:xfrm>
          <a:prstGeom prst="roundRect">
            <a:avLst>
              <a:gd fmla="val 3509" name="adj"/>
            </a:avLst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77240" y="288036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"/>
          <p:cNvSpPr txBox="1"/>
          <p:nvPr/>
        </p:nvSpPr>
        <p:spPr>
          <a:xfrm>
            <a:off x="777240" y="28803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 txBox="1"/>
          <p:nvPr/>
        </p:nvSpPr>
        <p:spPr>
          <a:xfrm>
            <a:off x="749808" y="352044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mbria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Pérdida de tiempo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 txBox="1"/>
          <p:nvPr/>
        </p:nvSpPr>
        <p:spPr>
          <a:xfrm>
            <a:off x="749808" y="4206240"/>
            <a:ext cx="2203704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1E4E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1E4E9"/>
                </a:solidFill>
                <a:latin typeface="Calibri"/>
                <a:ea typeface="Calibri"/>
                <a:cs typeface="Calibri"/>
                <a:sym typeface="Calibri"/>
              </a:rPr>
              <a:t>La gestión manual de horarios le resta tiempo a su actividad principal.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3383280" y="2606040"/>
            <a:ext cx="2606040" cy="3291840"/>
          </a:xfrm>
          <a:prstGeom prst="roundRect">
            <a:avLst>
              <a:gd fmla="val 3509" name="adj"/>
            </a:avLst>
          </a:prstGeom>
          <a:solidFill>
            <a:srgbClr val="A2676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"/>
          <p:cNvSpPr/>
          <p:nvPr/>
        </p:nvSpPr>
        <p:spPr>
          <a:xfrm>
            <a:off x="3611880" y="288036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 txBox="1"/>
          <p:nvPr/>
        </p:nvSpPr>
        <p:spPr>
          <a:xfrm>
            <a:off x="3611880" y="28803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 txBox="1"/>
          <p:nvPr/>
        </p:nvSpPr>
        <p:spPr>
          <a:xfrm>
            <a:off x="3584448" y="352044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mbria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Riesgo de dobles reservas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 txBox="1"/>
          <p:nvPr/>
        </p:nvSpPr>
        <p:spPr>
          <a:xfrm>
            <a:off x="3584448" y="4206240"/>
            <a:ext cx="2203704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1E4E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1E4E9"/>
                </a:solidFill>
                <a:latin typeface="Calibri"/>
                <a:ea typeface="Calibri"/>
                <a:cs typeface="Calibri"/>
                <a:sym typeface="Calibri"/>
              </a:rPr>
              <a:t>Sin control centralizado, es fácil agendar dos clientes en un mismo horario.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6217920" y="2606040"/>
            <a:ext cx="2606040" cy="3291840"/>
          </a:xfrm>
          <a:prstGeom prst="roundRect">
            <a:avLst>
              <a:gd fmla="val 3509" name="adj"/>
            </a:avLst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6446520" y="288036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"/>
          <p:cNvSpPr txBox="1"/>
          <p:nvPr/>
        </p:nvSpPr>
        <p:spPr>
          <a:xfrm>
            <a:off x="6446520" y="28803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 txBox="1"/>
          <p:nvPr/>
        </p:nvSpPr>
        <p:spPr>
          <a:xfrm>
            <a:off x="6419088" y="352044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mbria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Sin registro ordenado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 txBox="1"/>
          <p:nvPr/>
        </p:nvSpPr>
        <p:spPr>
          <a:xfrm>
            <a:off x="6419088" y="4206240"/>
            <a:ext cx="2203704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1E4E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1E4E9"/>
                </a:solidFill>
                <a:latin typeface="Calibri"/>
                <a:ea typeface="Calibri"/>
                <a:cs typeface="Calibri"/>
                <a:sym typeface="Calibri"/>
              </a:rPr>
              <a:t>No existe historial digital del trabajo realizado ni de la disponibilidad.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9052560" y="2606040"/>
            <a:ext cx="2606040" cy="3291840"/>
          </a:xfrm>
          <a:prstGeom prst="roundRect">
            <a:avLst>
              <a:gd fmla="val 3509" name="adj"/>
            </a:avLst>
          </a:prstGeom>
          <a:solidFill>
            <a:srgbClr val="A2676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9281160" y="288036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 txBox="1"/>
          <p:nvPr/>
        </p:nvSpPr>
        <p:spPr>
          <a:xfrm>
            <a:off x="9281160" y="28803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6D2E4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 txBox="1"/>
          <p:nvPr/>
        </p:nvSpPr>
        <p:spPr>
          <a:xfrm>
            <a:off x="9253728" y="3520440"/>
            <a:ext cx="22037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Cambria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Negocio sin presupuesto TI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 txBox="1"/>
          <p:nvPr/>
        </p:nvSpPr>
        <p:spPr>
          <a:xfrm>
            <a:off x="9253728" y="4206240"/>
            <a:ext cx="2203704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1E4E9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1E4E9"/>
                </a:solidFill>
                <a:latin typeface="Calibri"/>
                <a:ea typeface="Calibri"/>
                <a:cs typeface="Calibri"/>
                <a:sym typeface="Calibri"/>
              </a:rPr>
              <a:t>Pequeño negocio local, sin acceso a software de gestión comercial.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Haircut Home Studio — Proyecto APT · Fase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8138150" y="5715050"/>
            <a:ext cx="4053900" cy="1223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4" name="Google Shape;8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74538" y="5811901"/>
            <a:ext cx="3807967" cy="102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2676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26769"/>
                </a:solidFill>
                <a:latin typeface="Calibri"/>
                <a:ea typeface="Calibri"/>
                <a:cs typeface="Calibri"/>
                <a:sym typeface="Calibri"/>
              </a:rPr>
              <a:t>SECCIÓN 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 txBox="1"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Objetivos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548640" y="1737360"/>
            <a:ext cx="10881360" cy="1051560"/>
          </a:xfrm>
          <a:prstGeom prst="roundRect">
            <a:avLst>
              <a:gd fmla="val 8696" name="adj"/>
            </a:avLst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4"/>
          <p:cNvSpPr txBox="1"/>
          <p:nvPr/>
        </p:nvSpPr>
        <p:spPr>
          <a:xfrm>
            <a:off x="868680" y="184708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A44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 txBox="1"/>
          <p:nvPr/>
        </p:nvSpPr>
        <p:spPr>
          <a:xfrm>
            <a:off x="868680" y="2121408"/>
            <a:ext cx="10241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que automatice el agendamiento de horas e incorpore un motor de asignación inteligente de bloques, reduciendo la gestión manual y aumentando el aprovechamiento de la jornada laboral.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 txBox="1"/>
          <p:nvPr/>
        </p:nvSpPr>
        <p:spPr>
          <a:xfrm>
            <a:off x="548640" y="30175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2676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A26769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548640" y="3364992"/>
            <a:ext cx="566928" cy="566928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"/>
          <p:cNvSpPr txBox="1"/>
          <p:nvPr/>
        </p:nvSpPr>
        <p:spPr>
          <a:xfrm>
            <a:off x="548640" y="3364992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 txBox="1"/>
          <p:nvPr/>
        </p:nvSpPr>
        <p:spPr>
          <a:xfrm>
            <a:off x="1280160" y="3392424"/>
            <a:ext cx="10149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Levantar y documentar el proceso actual de agendamiento mediante entrevistas con el cliente.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548640" y="3931920"/>
            <a:ext cx="566928" cy="566928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"/>
          <p:cNvSpPr txBox="1"/>
          <p:nvPr/>
        </p:nvSpPr>
        <p:spPr>
          <a:xfrm>
            <a:off x="548640" y="39319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 txBox="1"/>
          <p:nvPr/>
        </p:nvSpPr>
        <p:spPr>
          <a:xfrm>
            <a:off x="1280160" y="3959352"/>
            <a:ext cx="10149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Diseñar la arquitectura y el modelo de datos considerando las restricciones del negocio.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548640" y="4498848"/>
            <a:ext cx="566928" cy="566928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 txBox="1"/>
          <p:nvPr/>
        </p:nvSpPr>
        <p:spPr>
          <a:xfrm>
            <a:off x="548640" y="4498848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 txBox="1"/>
          <p:nvPr/>
        </p:nvSpPr>
        <p:spPr>
          <a:xfrm>
            <a:off x="1280160" y="4526280"/>
            <a:ext cx="10149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Implementar los módulos de clientes, reservas y administración aplicando Scrum en sprints de dos semanas.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"/>
          <p:cNvSpPr txBox="1"/>
          <p:nvPr/>
        </p:nvSpPr>
        <p:spPr>
          <a:xfrm>
            <a:off x="548640" y="5065776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 txBox="1"/>
          <p:nvPr/>
        </p:nvSpPr>
        <p:spPr>
          <a:xfrm>
            <a:off x="1280160" y="5093208"/>
            <a:ext cx="10149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Desarrollar y evaluar el componente de agente, comparando su desempeño frente al método manual.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548640" y="5632704"/>
            <a:ext cx="566928" cy="566928"/>
          </a:xfrm>
          <a:prstGeom prst="ellipse">
            <a:avLst/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 txBox="1"/>
          <p:nvPr/>
        </p:nvSpPr>
        <p:spPr>
          <a:xfrm>
            <a:off x="548640" y="5632704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1280160" y="5660136"/>
            <a:ext cx="10149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Validar la solución mediante un período de uso real por parte del cliente.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Haircut Home Studio — Proyecto APT · Fase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8138150" y="5715050"/>
            <a:ext cx="4053900" cy="1223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3" name="Google Shape;11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74538" y="5811901"/>
            <a:ext cx="3807967" cy="102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2676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26769"/>
                </a:solidFill>
                <a:latin typeface="Calibri"/>
                <a:ea typeface="Calibri"/>
                <a:cs typeface="Calibri"/>
                <a:sym typeface="Calibri"/>
              </a:rPr>
              <a:t>SECCIÓN 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 txBox="1"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Alcances del Sistema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548640" y="1737360"/>
            <a:ext cx="3474720" cy="2606040"/>
          </a:xfrm>
          <a:prstGeom prst="roundRect">
            <a:avLst>
              <a:gd fmla="val 3509" name="adj"/>
            </a:avLst>
          </a:prstGeom>
          <a:solidFill>
            <a:srgbClr val="6D2E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"/>
          <p:cNvSpPr txBox="1"/>
          <p:nvPr/>
        </p:nvSpPr>
        <p:spPr>
          <a:xfrm>
            <a:off x="804672" y="19202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Módulo Cliente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804672" y="2423160"/>
            <a:ext cx="306324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3E7EC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F3E7EC"/>
                </a:solidFill>
                <a:latin typeface="Calibri"/>
                <a:ea typeface="Calibri"/>
                <a:cs typeface="Calibri"/>
                <a:sym typeface="Calibri"/>
              </a:rPr>
              <a:t>Catálogo de servicios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F3E7EC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F3E7EC"/>
                </a:solidFill>
                <a:latin typeface="Calibri"/>
                <a:ea typeface="Calibri"/>
                <a:cs typeface="Calibri"/>
                <a:sym typeface="Calibri"/>
              </a:rPr>
              <a:t>Login y cuenta de usuario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F3E7EC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F3E7EC"/>
                </a:solidFill>
                <a:latin typeface="Calibri"/>
                <a:ea typeface="Calibri"/>
                <a:cs typeface="Calibri"/>
                <a:sym typeface="Calibri"/>
              </a:rPr>
              <a:t>Reserva de horas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F3E7EC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F3E7EC"/>
                </a:solidFill>
                <a:latin typeface="Calibri"/>
                <a:ea typeface="Calibri"/>
                <a:cs typeface="Calibri"/>
                <a:sym typeface="Calibri"/>
              </a:rPr>
              <a:t>Historial de atenciones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4251960" y="1737360"/>
            <a:ext cx="3474720" cy="2606040"/>
          </a:xfrm>
          <a:prstGeom prst="roundRect">
            <a:avLst>
              <a:gd fmla="val 3509" name="adj"/>
            </a:avLst>
          </a:prstGeom>
          <a:solidFill>
            <a:srgbClr val="A2676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5"/>
          <p:cNvSpPr txBox="1"/>
          <p:nvPr/>
        </p:nvSpPr>
        <p:spPr>
          <a:xfrm>
            <a:off x="4507992" y="19202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Módulo Administrador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 txBox="1"/>
          <p:nvPr/>
        </p:nvSpPr>
        <p:spPr>
          <a:xfrm>
            <a:off x="4507992" y="2423160"/>
            <a:ext cx="306324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3E7EC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F3E7EC"/>
                </a:solidFill>
                <a:latin typeface="Calibri"/>
                <a:ea typeface="Calibri"/>
                <a:cs typeface="Calibri"/>
                <a:sym typeface="Calibri"/>
              </a:rPr>
              <a:t>Gestión de disponibilidad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F3E7EC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F3E7EC"/>
                </a:solidFill>
                <a:latin typeface="Calibri"/>
                <a:ea typeface="Calibri"/>
                <a:cs typeface="Calibri"/>
                <a:sym typeface="Calibri"/>
              </a:rPr>
              <a:t>Solicitudes de reserva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F3E7EC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F3E7EC"/>
                </a:solidFill>
                <a:latin typeface="Calibri"/>
                <a:ea typeface="Calibri"/>
                <a:cs typeface="Calibri"/>
                <a:sym typeface="Calibri"/>
              </a:rPr>
              <a:t>Reportes de gestión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F3E7EC"/>
              </a:buClr>
              <a:buSzPts val="1250"/>
              <a:buFont typeface="Calibri"/>
              <a:buChar char="▪"/>
            </a:pPr>
            <a:r>
              <a:rPr b="0" i="0" lang="en-US" sz="1250" u="none" cap="none" strike="noStrike">
                <a:solidFill>
                  <a:srgbClr val="F3E7EC"/>
                </a:solidFill>
                <a:latin typeface="Calibri"/>
                <a:ea typeface="Calibri"/>
                <a:cs typeface="Calibri"/>
                <a:sym typeface="Calibri"/>
              </a:rPr>
              <a:t>Vista del peluquero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8138160" y="1737360"/>
            <a:ext cx="3520440" cy="2606040"/>
          </a:xfrm>
          <a:prstGeom prst="roundRect">
            <a:avLst>
              <a:gd fmla="val 3509" name="adj"/>
            </a:avLst>
          </a:prstGeom>
          <a:solidFill>
            <a:srgbClr val="ECE2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8394192" y="19202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550"/>
              <a:buFont typeface="Cambria"/>
              <a:buNone/>
            </a:pPr>
            <a:r>
              <a:rPr b="1" i="0" lang="en-US" sz="155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+ Módulo IA (innovación)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8394192" y="2423160"/>
            <a:ext cx="306324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200"/>
              <a:buFont typeface="Calibri"/>
              <a:buChar char="▪"/>
            </a:pPr>
            <a:r>
              <a:rPr b="0" i="0" lang="en-US" sz="12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Vista previa de corte generada por IA a partir de una foto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3A2530"/>
              </a:buClr>
              <a:buSzPts val="1200"/>
              <a:buFont typeface="Calibri"/>
              <a:buChar char="▪"/>
            </a:pPr>
            <a:r>
              <a:rPr b="0" i="0" lang="en-US" sz="12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Agente que resume y gestiona solicitudes vía WhatsApp con aprobación del dueño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26769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A26769"/>
                </a:solidFill>
                <a:latin typeface="Calibri"/>
                <a:ea typeface="Calibri"/>
                <a:cs typeface="Calibri"/>
                <a:sym typeface="Calibri"/>
              </a:rPr>
              <a:t>STACK TECNOLÓGICO Y LÍMITES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 txBox="1"/>
          <p:nvPr/>
        </p:nvSpPr>
        <p:spPr>
          <a:xfrm>
            <a:off x="548640" y="4937760"/>
            <a:ext cx="110642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PHP · MySQL/MariaDB · Apache/Nginx (XAMPP) · Metodología Scrum + Kanban. Alcance acotado a un profesional único, dos estaciones de trabajo y atención a domicilio, desarrollado en 18 semanas.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Haircut Home Studio — Proyecto APT · Fase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8138150" y="5715050"/>
            <a:ext cx="4053900" cy="1223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4" name="Google Shape;13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74538" y="5811901"/>
            <a:ext cx="3807967" cy="102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2676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26769"/>
                </a:solidFill>
                <a:latin typeface="Calibri"/>
                <a:ea typeface="Calibri"/>
                <a:cs typeface="Calibri"/>
                <a:sym typeface="Calibri"/>
              </a:rPr>
              <a:t>SECCIÓN 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Hitos — Etapas de Desarrollo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p6"/>
          <p:cNvCxnSpPr/>
          <p:nvPr/>
        </p:nvCxnSpPr>
        <p:spPr>
          <a:xfrm>
            <a:off x="822960" y="2651760"/>
            <a:ext cx="10515600" cy="0"/>
          </a:xfrm>
          <a:prstGeom prst="straightConnector1">
            <a:avLst/>
          </a:prstGeom>
          <a:noFill/>
          <a:ln cap="flat" cmpd="sng" w="25400">
            <a:solidFill>
              <a:srgbClr val="D9CDD2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43" name="Google Shape;143;p6"/>
          <p:cNvSpPr/>
          <p:nvPr/>
        </p:nvSpPr>
        <p:spPr>
          <a:xfrm>
            <a:off x="2301240" y="2377440"/>
            <a:ext cx="548640" cy="548640"/>
          </a:xfrm>
          <a:prstGeom prst="ellipse">
            <a:avLst/>
          </a:prstGeom>
          <a:solidFill>
            <a:srgbClr val="6D2E46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 txBox="1"/>
          <p:nvPr/>
        </p:nvSpPr>
        <p:spPr>
          <a:xfrm>
            <a:off x="2301240" y="23774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960120" y="3154680"/>
            <a:ext cx="3230880" cy="3200400"/>
          </a:xfrm>
          <a:prstGeom prst="roundRect">
            <a:avLst>
              <a:gd fmla="val 2857" name="adj"/>
            </a:avLst>
          </a:prstGeom>
          <a:solidFill>
            <a:srgbClr val="FAF7F5"/>
          </a:solidFill>
          <a:ln cap="flat" cmpd="sng" w="12700">
            <a:solidFill>
              <a:srgbClr val="EBE0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"/>
          <p:cNvSpPr txBox="1"/>
          <p:nvPr/>
        </p:nvSpPr>
        <p:spPr>
          <a:xfrm>
            <a:off x="1188720" y="3337560"/>
            <a:ext cx="2773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E46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6D2E46"/>
                </a:solidFill>
                <a:latin typeface="Cambria"/>
                <a:ea typeface="Cambria"/>
                <a:cs typeface="Cambria"/>
                <a:sym typeface="Cambria"/>
              </a:rPr>
              <a:t>Fase 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 txBox="1"/>
          <p:nvPr/>
        </p:nvSpPr>
        <p:spPr>
          <a:xfrm>
            <a:off x="1188720" y="3703320"/>
            <a:ext cx="277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3 semanas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 txBox="1"/>
          <p:nvPr/>
        </p:nvSpPr>
        <p:spPr>
          <a:xfrm>
            <a:off x="1188720" y="4114800"/>
            <a:ext cx="27736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Contacto con el cliente, definición de épicas e historias de usuario, Product Backlog y diseño de arquitectura (4+1) y mockups.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5806440" y="2377440"/>
            <a:ext cx="548640" cy="548640"/>
          </a:xfrm>
          <a:prstGeom prst="ellipse">
            <a:avLst/>
          </a:prstGeom>
          <a:solidFill>
            <a:srgbClr val="A26769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6"/>
          <p:cNvSpPr txBox="1"/>
          <p:nvPr/>
        </p:nvSpPr>
        <p:spPr>
          <a:xfrm>
            <a:off x="5806440" y="23774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4465320" y="3154680"/>
            <a:ext cx="3230880" cy="3200400"/>
          </a:xfrm>
          <a:prstGeom prst="roundRect">
            <a:avLst>
              <a:gd fmla="val 2857" name="adj"/>
            </a:avLst>
          </a:prstGeom>
          <a:solidFill>
            <a:srgbClr val="FAF7F5"/>
          </a:solidFill>
          <a:ln cap="flat" cmpd="sng" w="12700">
            <a:solidFill>
              <a:srgbClr val="EBE0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"/>
          <p:cNvSpPr txBox="1"/>
          <p:nvPr/>
        </p:nvSpPr>
        <p:spPr>
          <a:xfrm>
            <a:off x="4693920" y="3337560"/>
            <a:ext cx="2773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26769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A26769"/>
                </a:solidFill>
                <a:latin typeface="Cambria"/>
                <a:ea typeface="Cambria"/>
                <a:cs typeface="Cambria"/>
                <a:sym typeface="Cambria"/>
              </a:rPr>
              <a:t>Fase 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 txBox="1"/>
          <p:nvPr/>
        </p:nvSpPr>
        <p:spPr>
          <a:xfrm>
            <a:off x="4693920" y="3703320"/>
            <a:ext cx="277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10 a 13 semanas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4693920" y="4114800"/>
            <a:ext cx="27736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Desarrollo incremental en 5 sprints: reservas, vistas de peluquero, cliente y admin, agente WhatsApp e IA de simulación de corte.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9311640" y="2377440"/>
            <a:ext cx="548640" cy="548640"/>
          </a:xfrm>
          <a:prstGeom prst="ellipse">
            <a:avLst/>
          </a:prstGeom>
          <a:solidFill>
            <a:srgbClr val="D9A441"/>
          </a:solidFill>
          <a:ln cap="flat" cmpd="sng" w="381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"/>
          <p:cNvSpPr txBox="1"/>
          <p:nvPr/>
        </p:nvSpPr>
        <p:spPr>
          <a:xfrm>
            <a:off x="9311640" y="23774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7970520" y="3154680"/>
            <a:ext cx="3230880" cy="3200400"/>
          </a:xfrm>
          <a:prstGeom prst="roundRect">
            <a:avLst>
              <a:gd fmla="val 2857" name="adj"/>
            </a:avLst>
          </a:prstGeom>
          <a:solidFill>
            <a:srgbClr val="FAF7F5"/>
          </a:solidFill>
          <a:ln cap="flat" cmpd="sng" w="12700">
            <a:solidFill>
              <a:srgbClr val="EBE0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"/>
          <p:cNvSpPr txBox="1"/>
          <p:nvPr/>
        </p:nvSpPr>
        <p:spPr>
          <a:xfrm>
            <a:off x="8199120" y="3337560"/>
            <a:ext cx="2773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D9A441"/>
                </a:solidFill>
                <a:latin typeface="Cambria"/>
                <a:ea typeface="Cambria"/>
                <a:cs typeface="Cambria"/>
                <a:sym typeface="Cambria"/>
              </a:rPr>
              <a:t>Fase 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 txBox="1"/>
          <p:nvPr/>
        </p:nvSpPr>
        <p:spPr>
          <a:xfrm>
            <a:off x="8199120" y="3703320"/>
            <a:ext cx="277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4 a 5 semanas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 txBox="1"/>
          <p:nvPr/>
        </p:nvSpPr>
        <p:spPr>
          <a:xfrm>
            <a:off x="8199120" y="4114800"/>
            <a:ext cx="27736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A2530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3A2530"/>
                </a:solidFill>
                <a:latin typeface="Calibri"/>
                <a:ea typeface="Calibri"/>
                <a:cs typeface="Calibri"/>
                <a:sym typeface="Calibri"/>
              </a:rPr>
              <a:t>Pruebas de calidad, despliegue del entorno, manual de usuario, cierre del proyecto y presentación ante la comisión.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C7A80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C7A80"/>
                </a:solidFill>
                <a:latin typeface="Calibri"/>
                <a:ea typeface="Calibri"/>
                <a:cs typeface="Calibri"/>
                <a:sym typeface="Calibri"/>
              </a:rPr>
              <a:t>Haircut Home Studio — Proyecto APT · Fase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8138150" y="5715050"/>
            <a:ext cx="4053900" cy="1223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3" name="Google Shape;16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74538" y="5811901"/>
            <a:ext cx="3807967" cy="102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6D2E46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5E2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7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9A441"/>
                </a:solidFill>
                <a:latin typeface="Calibri"/>
                <a:ea typeface="Calibri"/>
                <a:cs typeface="Calibri"/>
                <a:sym typeface="Calibri"/>
              </a:rPr>
              <a:t>SECCIÓN 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 txBox="1"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Conclusión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 txBox="1"/>
          <p:nvPr/>
        </p:nvSpPr>
        <p:spPr>
          <a:xfrm>
            <a:off x="548640" y="1828800"/>
            <a:ext cx="10607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mbria"/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Haircut Home Studio transforma una gestión manual y propensa a errores en una plataforma digital ordenada, ahorrando tiempo al profesional y mejorando la experiencia de reserva de sus clientes.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548640" y="3291840"/>
            <a:ext cx="3611880" cy="2651760"/>
          </a:xfrm>
          <a:prstGeom prst="roundRect">
            <a:avLst>
              <a:gd fmla="val 3448" name="adj"/>
            </a:avLst>
          </a:prstGeom>
          <a:solidFill>
            <a:srgbClr val="7D3C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7"/>
          <p:cNvSpPr txBox="1"/>
          <p:nvPr/>
        </p:nvSpPr>
        <p:spPr>
          <a:xfrm>
            <a:off x="804672" y="352044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50"/>
              <a:buFont typeface="Cambria"/>
              <a:buNone/>
            </a:pPr>
            <a:r>
              <a:rPr b="1" i="0" lang="en-US" sz="1550" u="none" cap="none" strike="noStrike">
                <a:solidFill>
                  <a:srgbClr val="D9A441"/>
                </a:solidFill>
                <a:latin typeface="Cambria"/>
                <a:ea typeface="Cambria"/>
                <a:cs typeface="Cambria"/>
                <a:sym typeface="Cambria"/>
              </a:rPr>
              <a:t>Pertinencia profesional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 txBox="1"/>
          <p:nvPr/>
        </p:nvSpPr>
        <p:spPr>
          <a:xfrm>
            <a:off x="804672" y="4114800"/>
            <a:ext cx="315468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1E4E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1E4E9"/>
                </a:solidFill>
                <a:latin typeface="Calibri"/>
                <a:ea typeface="Calibri"/>
                <a:cs typeface="Calibri"/>
                <a:sym typeface="Calibri"/>
              </a:rPr>
              <a:t>Aplica el ciclo completo del perfil de egreso: analizar, diseñar, implementar y asegurar calidad.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4389120" y="3291840"/>
            <a:ext cx="3611880" cy="2651760"/>
          </a:xfrm>
          <a:prstGeom prst="roundRect">
            <a:avLst>
              <a:gd fmla="val 3448" name="adj"/>
            </a:avLst>
          </a:prstGeom>
          <a:solidFill>
            <a:srgbClr val="7D3C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7"/>
          <p:cNvSpPr txBox="1"/>
          <p:nvPr/>
        </p:nvSpPr>
        <p:spPr>
          <a:xfrm>
            <a:off x="4645152" y="352044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50"/>
              <a:buFont typeface="Cambria"/>
              <a:buNone/>
            </a:pPr>
            <a:r>
              <a:rPr b="1" i="0" lang="en-US" sz="1550" u="none" cap="none" strike="noStrike">
                <a:solidFill>
                  <a:srgbClr val="D9A441"/>
                </a:solidFill>
                <a:latin typeface="Cambria"/>
                <a:ea typeface="Cambria"/>
                <a:cs typeface="Cambria"/>
                <a:sym typeface="Cambria"/>
              </a:rPr>
              <a:t>Factibilidad comprobada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 txBox="1"/>
          <p:nvPr/>
        </p:nvSpPr>
        <p:spPr>
          <a:xfrm>
            <a:off x="4645152" y="4114800"/>
            <a:ext cx="315468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1E4E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1E4E9"/>
                </a:solidFill>
                <a:latin typeface="Calibri"/>
                <a:ea typeface="Calibri"/>
                <a:cs typeface="Calibri"/>
                <a:sym typeface="Calibri"/>
              </a:rPr>
              <a:t>Alcance acotado, stack de código abierto y desarrollo por sprints ajustado al semestre.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/>
          <p:nvPr/>
        </p:nvSpPr>
        <p:spPr>
          <a:xfrm>
            <a:off x="8229600" y="3291840"/>
            <a:ext cx="3611880" cy="2651760"/>
          </a:xfrm>
          <a:prstGeom prst="roundRect">
            <a:avLst>
              <a:gd fmla="val 3448" name="adj"/>
            </a:avLst>
          </a:prstGeom>
          <a:solidFill>
            <a:srgbClr val="7D3C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"/>
          <p:cNvSpPr txBox="1"/>
          <p:nvPr/>
        </p:nvSpPr>
        <p:spPr>
          <a:xfrm>
            <a:off x="8485632" y="352044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A441"/>
              </a:buClr>
              <a:buSzPts val="1550"/>
              <a:buFont typeface="Cambria"/>
              <a:buNone/>
            </a:pPr>
            <a:r>
              <a:rPr b="1" i="0" lang="en-US" sz="1550" u="none" cap="none" strike="noStrike">
                <a:solidFill>
                  <a:srgbClr val="D9A441"/>
                </a:solidFill>
                <a:latin typeface="Cambria"/>
                <a:ea typeface="Cambria"/>
                <a:cs typeface="Cambria"/>
                <a:sym typeface="Cambria"/>
              </a:rPr>
              <a:t>Innovación diferenciadora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 txBox="1"/>
          <p:nvPr/>
        </p:nvSpPr>
        <p:spPr>
          <a:xfrm>
            <a:off x="8485632" y="4114800"/>
            <a:ext cx="3154680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1E4E9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1E4E9"/>
                </a:solidFill>
                <a:latin typeface="Calibri"/>
                <a:ea typeface="Calibri"/>
                <a:cs typeface="Calibri"/>
                <a:sym typeface="Calibri"/>
              </a:rPr>
              <a:t>Vista previa de corte con IA y agente automático de agendamiento vía WhatsApp.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B8B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9B8BE"/>
                </a:solidFill>
                <a:latin typeface="Calibri"/>
                <a:ea typeface="Calibri"/>
                <a:cs typeface="Calibri"/>
                <a:sym typeface="Calibri"/>
              </a:rPr>
              <a:t>Haircut Home Studio — Proyecto APT · Fase 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8138150" y="5715050"/>
            <a:ext cx="4053900" cy="1223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4" name="Google Shape;18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74538" y="5811901"/>
            <a:ext cx="3807967" cy="1029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2026-08-31T01:51:20Z</dcterms:created>
  <dc:creator>PptxGenJS</dc:creator>
</cp:coreProperties>
</file>